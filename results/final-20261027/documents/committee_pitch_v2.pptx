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383c9ad2c64928" /><Relationship Type="http://schemas.openxmlformats.org/officeDocument/2006/relationships/extended-properties" Target="/docProps/app.xml" Id="R7e2e9d2f24dd4fcf" /><Relationship Type="http://schemas.openxmlformats.org/officeDocument/2006/relationships/officeDocument" Target="/ppt/presentation.xml" Id="R31d3dad24287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eafa06e414992"/>
  </p:sldMasterIdLst>
  <p:notesMasterIdLst>
    <p:notesMasterId xmlns:r="http://schemas.openxmlformats.org/officeDocument/2006/relationships" r:id="R3c79e124499848c5"/>
  </p:notesMasterIdLst>
  <p:sldIdLst>
    <p:sldId xmlns:r="http://schemas.openxmlformats.org/officeDocument/2006/relationships" id="256" r:id="R7ec7535f01b94b75"/>
    <p:sldId xmlns:r="http://schemas.openxmlformats.org/officeDocument/2006/relationships" id="257" r:id="R677e6daf655a4706"/>
    <p:sldId xmlns:r="http://schemas.openxmlformats.org/officeDocument/2006/relationships" id="258" r:id="Rdf8ff20de1c54d4b"/>
    <p:sldId xmlns:r="http://schemas.openxmlformats.org/officeDocument/2006/relationships" id="259" r:id="R2a185c24e81c42fe"/>
    <p:sldId xmlns:r="http://schemas.openxmlformats.org/officeDocument/2006/relationships" id="260" r:id="R2c10fb75e84040c4"/>
    <p:sldId xmlns:r="http://schemas.openxmlformats.org/officeDocument/2006/relationships" id="261" r:id="R540c5716b5be4b7d"/>
    <p:sldId xmlns:r="http://schemas.openxmlformats.org/officeDocument/2006/relationships" id="262" r:id="Radfb7c13cc8b473e"/>
    <p:sldId xmlns:r="http://schemas.openxmlformats.org/officeDocument/2006/relationships" id="263" r:id="R116da55ddc5d4ce1"/>
    <p:sldId xmlns:r="http://schemas.openxmlformats.org/officeDocument/2006/relationships" id="264" r:id="R08163099348b4e69"/>
    <p:sldId xmlns:r="http://schemas.openxmlformats.org/officeDocument/2006/relationships" id="265" r:id="Rab71cbb6cdeb41cb"/>
    <p:sldId xmlns:r="http://schemas.openxmlformats.org/officeDocument/2006/relationships" id="266" r:id="R689e4c42a0644964"/>
    <p:sldId xmlns:r="http://schemas.openxmlformats.org/officeDocument/2006/relationships" id="267" r:id="Rf95e7cfa69a340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29f25ec774c4e" /><Relationship Type="http://schemas.openxmlformats.org/officeDocument/2006/relationships/slideMaster" Target="/ppt/slideMasters/slideMaster1.xml" Id="Rbabeafa06e414992" /><Relationship Type="http://schemas.openxmlformats.org/officeDocument/2006/relationships/notesMaster" Target="/ppt/notesMasters/notesMaster1.xml" Id="R3c79e124499848c5" /><Relationship Type="http://schemas.openxmlformats.org/officeDocument/2006/relationships/presProps" Target="/ppt/presProps.xml" Id="R1c1576c40e06472e" /><Relationship Type="http://schemas.openxmlformats.org/officeDocument/2006/relationships/tableStyles" Target="/ppt/tableStyles.xml" Id="R38ca34a98fd04cf1" /><Relationship Type="http://schemas.openxmlformats.org/officeDocument/2006/relationships/slide" Target="/ppt/slides/slide1.xml" Id="R7ec7535f01b94b75" /><Relationship Type="http://schemas.openxmlformats.org/officeDocument/2006/relationships/slide" Target="/ppt/slides/slide2.xml" Id="R677e6daf655a4706" /><Relationship Type="http://schemas.openxmlformats.org/officeDocument/2006/relationships/slide" Target="/ppt/slides/slide3.xml" Id="Rdf8ff20de1c54d4b" /><Relationship Type="http://schemas.openxmlformats.org/officeDocument/2006/relationships/slide" Target="/ppt/slides/slide4.xml" Id="R2a185c24e81c42fe" /><Relationship Type="http://schemas.openxmlformats.org/officeDocument/2006/relationships/slide" Target="/ppt/slides/slide5.xml" Id="R2c10fb75e84040c4" /><Relationship Type="http://schemas.openxmlformats.org/officeDocument/2006/relationships/slide" Target="/ppt/slides/slide6.xml" Id="R540c5716b5be4b7d" /><Relationship Type="http://schemas.openxmlformats.org/officeDocument/2006/relationships/slide" Target="/ppt/slides/slide7.xml" Id="Radfb7c13cc8b473e" /><Relationship Type="http://schemas.openxmlformats.org/officeDocument/2006/relationships/slide" Target="/ppt/slides/slide8.xml" Id="R116da55ddc5d4ce1" /><Relationship Type="http://schemas.openxmlformats.org/officeDocument/2006/relationships/slide" Target="/ppt/slides/slide9.xml" Id="R08163099348b4e69" /><Relationship Type="http://schemas.openxmlformats.org/officeDocument/2006/relationships/slide" Target="/ppt/slides/slide10.xml" Id="Rab71cbb6cdeb41cb" /><Relationship Type="http://schemas.openxmlformats.org/officeDocument/2006/relationships/slide" Target="/ppt/slides/slide11.xml" Id="R689e4c42a0644964" /><Relationship Type="http://schemas.openxmlformats.org/officeDocument/2006/relationships/slide" Target="/ppt/slides/slide12.xml" Id="Rf95e7cfa69a3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2a724374e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cb1cde6590411c" /><Relationship Type="http://schemas.openxmlformats.org/officeDocument/2006/relationships/notesMaster" Target="/ppt/notesMasters/notesMaster1.xml" Id="R5ce016511b7f4c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2b0764d6ec41e3" /><Relationship Type="http://schemas.openxmlformats.org/officeDocument/2006/relationships/notesMaster" Target="/ppt/notesMasters/notesMaster1.xml" Id="Ra373004a1b6c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902728e1a49b0" /><Relationship Type="http://schemas.openxmlformats.org/officeDocument/2006/relationships/notesMaster" Target="/ppt/notesMasters/notesMaster1.xml" Id="R18c528385ff14f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fdfc972bb466a" /><Relationship Type="http://schemas.openxmlformats.org/officeDocument/2006/relationships/notesMaster" Target="/ppt/notesMasters/notesMaster1.xml" Id="Rb8c92cc1d374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e47376e2346c3" /><Relationship Type="http://schemas.openxmlformats.org/officeDocument/2006/relationships/notesMaster" Target="/ppt/notesMasters/notesMaster1.xml" Id="Re1382f650deb44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4ff43ea5b24363" /><Relationship Type="http://schemas.openxmlformats.org/officeDocument/2006/relationships/notesMaster" Target="/ppt/notesMasters/notesMaster1.xml" Id="Ra71fe3d1b52c41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a562c327ab42e8" /><Relationship Type="http://schemas.openxmlformats.org/officeDocument/2006/relationships/notesMaster" Target="/ppt/notesMasters/notesMaster1.xml" Id="Rf10b7e9e2a3549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3f579ebe84934" /><Relationship Type="http://schemas.openxmlformats.org/officeDocument/2006/relationships/notesMaster" Target="/ppt/notesMasters/notesMaster1.xml" Id="Rc61b198fda8f4f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5686b607af46f9" /><Relationship Type="http://schemas.openxmlformats.org/officeDocument/2006/relationships/notesMaster" Target="/ppt/notesMasters/notesMaster1.xml" Id="Rd7bc404acf4e41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0712300a204f2a" /><Relationship Type="http://schemas.openxmlformats.org/officeDocument/2006/relationships/notesMaster" Target="/ppt/notesMasters/notesMaster1.xml" Id="R3305eba7e9cb4c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3538787275483a" /><Relationship Type="http://schemas.openxmlformats.org/officeDocument/2006/relationships/notesMaster" Target="/ppt/notesMasters/notesMaster1.xml" Id="Ra556b06bff5a48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22a17b97a64c8f" /><Relationship Type="http://schemas.openxmlformats.org/officeDocument/2006/relationships/notesMaster" Target="/ppt/notesMasters/notesMaster1.xml" Id="Raee7e91a126f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Lead with the action and the largest reason. This is an algorithmic proposal, not independent human sign-off.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Explain (1+inflation)/(1-spending)-1. These are owner-accepted policy assumptions, not competition rules. Each 0.5 percentage point spending change is initially USD 50,000 per year.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Explain concentration, equity cap, gold cap and bond rate risk. Allocation is W_rec, estimated through snapshot end.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Explain adjusted closes, no dividend or expense double counting, and why weighted asset log returns are wrong. Contemporary revised macro data is not a vintage archive. Source: data/clean manifests and audits.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Explain mean shrinkage, Ledoit-Wolf, LP objective and secondary CVaR objective. A benchmark gap does not isolate a constraint effect. See results/training/constraint_effects.json.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Historical performance is not expected return. Explain quarterly/drift costs versus daily constant-weight risk replay, geometric versus arithmetic means, and the spending convention.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VaR is a threshold; ES averages tail severity. Dollar ES averages dollar losses. Explain normal, Monte Carlo and EVT differences. Confidence is 99%, value USD 10 million.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Explain positive, zero and negative GPD shape, support and threshold trade-off. High shape does not mean high crash probability. Compare threshold and block sensitivities.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seconds. Explain Kupiec frequency, Christoffersen clustering, missing forecasts and 250-day 99% Basel calibration. Disclose earlier equal-weight FHS failure, primary/challenger order and no untouched historical holdout. BIS source: https://www.bis.org/committees/bcbs/basel-framework/standard/mar/99/inforce/2019-12-15/published/2019-12-15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Historical paths are buy-and-hold from SPY peak to trough. Hypothetical shocks have no calibrated probability. Explain negative ES contributions, scenario dependence and why bonds/gold can fail.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Explain checks C1-C5 and adjustment order A1-A5. Missing or failed model validation means evaluation incomplete. Owner must independently review and defend the recommendation. AI assisted code and documents; disclose Claude Code, Antigravity and Codex according to records.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 plus Q&amp;A. Answer with the frozen limits, empirical stress evidence, spending hurdle and each allocation’s own validation. Do not claim independent human approval or guarantee protection.</a:t>
            </a:r>
          </a:p>
          <a:p xmlns:a="http://schemas.openxmlformats.org/drawingml/2006/main">
            <a:r>
              <a:t>Evidence: results/final-20261027/submission.json and per-allocation files. Authoritative source: Quant edge 1.0 Final Challenge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47e59ffb04f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66d907ee347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7930d9c6f43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e292eeab443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9dfd8e6c748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cdf1815a7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897BFA-A2DC-482D-8039-7C87742F0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0CF159-0937-4165-855F-07EB5E2D0C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16012D-1347-49CB-8FF7-E1D4B2C8D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4D809F-3029-476C-9788-C4F15D64C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D45C11-85EC-48E2-94C3-CA68ADADE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C3E7BB-9E85-482E-BDC8-A1735948D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CC186A-134E-4591-8D6E-A8150F1FCE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3F73B4-814C-47DA-B927-68F9659299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D3FE25-E9CD-4E92-BB35-77583BA71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F79270-45AC-48FC-A18C-2CFAC87605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def306c2aa4ffb" /><Relationship Type="http://schemas.openxmlformats.org/officeDocument/2006/relationships/slideLayout" Target="/ppt/slideLayouts/slideLayout1.xml" Id="R56315d30e4c04a19" /><Relationship Type="http://schemas.openxmlformats.org/officeDocument/2006/relationships/slideLayout" Target="/ppt/slideLayouts/slideLayout2.xml" Id="R029e8bc70f4b44f6" /><Relationship Type="http://schemas.openxmlformats.org/officeDocument/2006/relationships/slideLayout" Target="/ppt/slideLayouts/slideLayout3.xml" Id="Rf071ae30f3c043a1" /><Relationship Type="http://schemas.openxmlformats.org/officeDocument/2006/relationships/slideLayout" Target="/ppt/slideLayouts/slideLayout4.xml" Id="R132e9edbfb544488" /><Relationship Type="http://schemas.openxmlformats.org/officeDocument/2006/relationships/slideLayout" Target="/ppt/slideLayouts/slideLayout5.xml" Id="R20f72eb826014f43" /><Relationship Type="http://schemas.openxmlformats.org/officeDocument/2006/relationships/slideLayout" Target="/ppt/slideLayouts/slideLayout6.xml" Id="R8ddc64e8958c41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15d30e4c04a19"/>
    <p:sldLayoutId xmlns:r="http://schemas.openxmlformats.org/officeDocument/2006/relationships" id="2147483650" r:id="R029e8bc70f4b44f6"/>
    <p:sldLayoutId xmlns:r="http://schemas.openxmlformats.org/officeDocument/2006/relationships" id="2147483651" r:id="Rf071ae30f3c043a1"/>
    <p:sldLayoutId xmlns:r="http://schemas.openxmlformats.org/officeDocument/2006/relationships" id="2147483652" r:id="R132e9edbfb544488"/>
    <p:sldLayoutId xmlns:r="http://schemas.openxmlformats.org/officeDocument/2006/relationships" id="2147483653" r:id="R20f72eb826014f43"/>
    <p:sldLayoutId xmlns:r="http://schemas.openxmlformats.org/officeDocument/2006/relationships" id="2147483654" r:id="R8ddc64e8958c41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14375eca94694" /><Relationship Type="http://schemas.openxmlformats.org/officeDocument/2006/relationships/notesSlide" Target="/ppt/notesSlides/notesSlide1.xml" Id="R476ecb3c5578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971c8dc004a44" /><Relationship Type="http://schemas.openxmlformats.org/officeDocument/2006/relationships/notesSlide" Target="/ppt/notesSlides/notesSlide2.xml" Id="Rb4b641dd4dce4c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4ede62746438f" /><Relationship Type="http://schemas.openxmlformats.org/officeDocument/2006/relationships/notesSlide" Target="/ppt/notesSlides/notesSlide3.xml" Id="R2d7e48fbd4a5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42816cf084582" /><Relationship Type="http://schemas.openxmlformats.org/officeDocument/2006/relationships/notesSlide" Target="/ppt/notesSlides/notesSlide4.xml" Id="R7ec935fbf743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0452ca6144d53" /><Relationship Type="http://schemas.openxmlformats.org/officeDocument/2006/relationships/notesSlide" Target="/ppt/notesSlides/notesSlide5.xml" Id="R677d58f3dabe47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a35e6c534456a" /><Relationship Type="http://schemas.openxmlformats.org/officeDocument/2006/relationships/notesSlide" Target="/ppt/notesSlides/notesSlide6.xml" Id="Rc1ec0215064741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1c36899cd408d" /><Relationship Type="http://schemas.openxmlformats.org/officeDocument/2006/relationships/notesSlide" Target="/ppt/notesSlides/notesSlide7.xml" Id="Rffafbf9f38a745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c9c644d9b4d77" /><Relationship Type="http://schemas.openxmlformats.org/officeDocument/2006/relationships/notesSlide" Target="/ppt/notesSlides/notesSlide8.xml" Id="R3901210e155040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e956019ba4646" /><Relationship Type="http://schemas.openxmlformats.org/officeDocument/2006/relationships/notesSlide" Target="/ppt/notesSlides/notesSlide9.xml" Id="Rf61244b26d064f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84a63aef8411f" /><Relationship Type="http://schemas.openxmlformats.org/officeDocument/2006/relationships/notesSlide" Target="/ppt/notesSlides/notesSlide10.xml" Id="R0b58e426a2c54c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16040096e47c1" /><Relationship Type="http://schemas.openxmlformats.org/officeDocument/2006/relationships/notesSlide" Target="/ppt/notesSlides/notesSlide11.xml" Id="Ra2d6f6fb754d4d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835d2234e49bd" /><Relationship Type="http://schemas.openxmlformats.org/officeDocument/2006/relationships/notesSlide" Target="/ppt/notesSlides/notesSlide12.xml" Id="R2b25313495af44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2C35A-CD98-4909-9A80-54D5D723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Endowment investment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1F33F-1F96-41FA-AADD-9D89DAF6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USD 10 million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Adjust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Adopt A1_min_cvar only after owner review of the stated trade-off.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CDA5B-C1EE-49A0-8C0F-88B3B61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666256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B658B-04CE-4F2E-B66A-BC61D947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Spending and capital preservation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95BC5-C0FE-4AE8-BF39-40944EE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Perpetual endowment, five-year strategic review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4% annual spending after returns and costs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2.5% assumed inflation and 6.77% return hurdle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USD 250,000 one-day ES99 budget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20% historical stress/drawdown limit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0EDD-D5CD-469D-9E01-C17F53C7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188320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63F54-2588-4151-81DD-90A1D90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Proposed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C8586-1286-417F-9897-0B63070A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9535-F8CE-42B1-A924-590EB49FCC2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9410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ETF</a:t>
                      </a:r>
                    </a:p>
                  </a:txBody>
                  <a:tcPr marL="91440" marR="91440" marT="45720" marB="45720">
                    <a:solidFill>
                      <a:srgbClr val="E1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E1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Initial exposure</a:t>
                      </a:r>
                    </a:p>
                  </a:txBody>
                  <a:tcPr marL="91440" marR="91440" marT="45720" marB="45720">
                    <a:solidFill>
                      <a:srgbClr val="E1EAF0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SPY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15.00%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$1,500,000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EFA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EEM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AGG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70.00%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$7,000,000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GLD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15.00%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$1,500,000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XLE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49410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XLK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526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71C2D-A125-4EE7-A5C9-5CC4821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Data and portfolio accounting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F3CCE-8CFF-41EB-AD8E-ECA8F8DF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Seven eligible ETFs, adjusted Yahoo closes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5,470 price dates through 30 September 2026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242 flagged moves retained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Aggregate simple returns before converting to log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FRED risk-free rates and CPI with disclosed lags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2C16C-31EB-4BD1-866D-282F47C0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394999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E1C90-272A-48CE-8A02-2E69C094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Selection and alternatives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A14E9-DADF-47D7-805A-459615F8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Maximise expected return within historical CVaR99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Compare minimum CVaR, minimum variance and near-parity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Compare 40/60, 60/40 and adapted permanent portfolio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Freeze procedure before current post-training evaluation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Historical allocations remain retrospective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3C93C-9E84-4860-BF7E-CDDF6A3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878403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10933-B025-452F-AF25-3FF9484B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Performance and the hurdle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EE7A2-A0CB-49C5-98D4-AF49140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After-cost historical CAGR: 5.49%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Historical maximum drawdown: -16.79%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Expected geometric return: 8.02%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Annual spending reduces NAV once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Real-capital target uses the CPI ratio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Illustrative 5/10-year shortfall: 60.92% / 67.41%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11E7E-40C2-4A17-939E-5B8B927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1057103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5AA38-7006-4EE0-BE4C-12672179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One-day downside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EA086-E8F4-4D5E-A911-47A4F5B9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905F7-E542-4BCE-87A0-D17561DDAEB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VaR USD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ES USD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historical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$94,130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$141,417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$83,215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$95,586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mc_t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$94,971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$130,290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evt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$99,408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02D45"/>
                          </a:solidFill>
                          <a:latin typeface="Arial"/>
                          <a:ea typeface="Arial"/>
                          <a:cs typeface="Arial"/>
                        </a:rPr>
                        <a:t>$137,817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164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331B5-DAAF-40B1-83D3-57591A6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Tail estimates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61E94-3E79-4F8A-BEFF-56CDD98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EVT threshold supported by stability and tail diagnostics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Sparse extremes widen uncertainty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Empirical-body estimates labelled below the threshold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Circular block bootstrap preserves whole asset rows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Fixed threshold percentile omits selection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1E780-F997-4BC0-8449-5E6E33B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572679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C4C6C-DD4A-4ABF-8EFE-5F483BA9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Allocation-specific model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451E-FCA5-4EDE-84C6-A7E56C14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fhs: 39/2449 breaches, final zone yellow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Kupiec p 0.007, conditional coverage p 0.009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garch_evt: 33/2449 breaches, final zone yellow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Kupiec p 0.101, conditional coverage p 0.056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Prior-day forecasts and a separate annual walk-forward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F1D48-CE48-45FF-BC13-52AB6A4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1046281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B6D4-4E2B-4643-8CD4-3FE4A50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Stress losses and risk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98BCF-BFB6-448B-B283-19E9CAC2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GFC: $-48,333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COVID: $654,106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Rates 2022: $1,483,649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Hypothetical joint inflation shock: $1,075,000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Shared historical tail weights reconcile dollar ES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Portfolio-only FHS attribution is unavailable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FDD0-771B-4300-A695-8155321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111413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AD200-132C-4E9F-BA26-8C5F3249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Committee action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0F2CB-2606-424C-9613-0F22240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Adjust: Adopt A1_min_cvar only after owner review of the stated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Review: 10% drawdown or yellow zone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Consider validated de-risk allocation: 15% or red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Owner review and solo eligibility remain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B55A4-AFBD-4133-A3D6-EEA8219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343368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CB7B9-19D8-447D-80E0-945A2B3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D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D45"/>
                </a:solidFill>
                <a:latin typeface="Arial"/>
                <a:ea typeface="Arial"/>
                <a:cs typeface="Arial"/>
              </a:rPr>
              <a:t>Committee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48A8-2451-4219-BB12-641DDC61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Why this allocation rather than all bonds?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What if both risk models fail?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How much spending can the endowment sustain?</a:t>
            </a:r>
          </a:p>
          <a:p xmlns:a="http://schemas.openxmlformats.org/drawingml/2006/main">
            <a:pPr>
              <a:defRPr sz="2250" b="0">
                <a:solidFill>
                  <a:srgbClr val="233D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D50"/>
                </a:solidFill>
                <a:latin typeface="Arial"/>
                <a:ea typeface="Arial"/>
                <a:cs typeface="Arial"/>
              </a:rPr>
              <a:t>What evidence would change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6C547-3228-40C8-A060-5AF72C77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8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886"/>
                </a:solidFill>
                <a:latin typeface="Arial"/>
                <a:ea typeface="Arial"/>
                <a:cs typeface="Arial"/>
              </a:rPr>
              <a:t>Ghosted · 2026-09-30 · owner review pending</a:t>
            </a:r>
          </a:p>
        </p:txBody>
      </p:sp>
    </p:spTree>
    <p:extLst>
      <p:ext uri="{BB962C8B-B14F-4D97-AF65-F5344CB8AC3E}">
        <p14:creationId xmlns:p14="http://schemas.microsoft.com/office/powerpoint/2010/main" val="5183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2026-10-27T12:53:14.3590000Z</dcterms:created>
  <dcterms:modified xsi:type="dcterms:W3CDTF">2026-10-27T12:53:14.3590000Z</dcterms:modified>
</coreProperties>
</file>